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66" r:id="rId3"/>
    <p:sldId id="258" r:id="rId4"/>
    <p:sldId id="259" r:id="rId5"/>
    <p:sldId id="264" r:id="rId6"/>
    <p:sldId id="265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6AFC91-14BC-476B-8E13-769C10ACE9F5}" v="1" dt="2025-11-22T10:28:43.8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3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32E38A-4C49-4F63-A812-68D02007DF5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124CA5-F312-4FD2-91FE-5B946051E3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997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124CA5-F312-4FD2-91FE-5B946051E3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062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124CA5-F312-4FD2-91FE-5B946051E3A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702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B239-7AFE-4A46-B154-83ECEB7ED95F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C89F1-8B13-4CEC-B12D-887A41880E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781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B239-7AFE-4A46-B154-83ECEB7ED95F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C89F1-8B13-4CEC-B12D-887A41880E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821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B239-7AFE-4A46-B154-83ECEB7ED95F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C89F1-8B13-4CEC-B12D-887A41880E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811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B239-7AFE-4A46-B154-83ECEB7ED95F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C89F1-8B13-4CEC-B12D-887A41880E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003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B239-7AFE-4A46-B154-83ECEB7ED95F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C89F1-8B13-4CEC-B12D-887A41880E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507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B239-7AFE-4A46-B154-83ECEB7ED95F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C89F1-8B13-4CEC-B12D-887A41880E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942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B239-7AFE-4A46-B154-83ECEB7ED95F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C89F1-8B13-4CEC-B12D-887A41880E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26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B239-7AFE-4A46-B154-83ECEB7ED95F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C89F1-8B13-4CEC-B12D-887A41880E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483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B239-7AFE-4A46-B154-83ECEB7ED95F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C89F1-8B13-4CEC-B12D-887A41880E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341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B239-7AFE-4A46-B154-83ECEB7ED95F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C89F1-8B13-4CEC-B12D-887A41880E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171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B239-7AFE-4A46-B154-83ECEB7ED95F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C89F1-8B13-4CEC-B12D-887A41880E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156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8B239-7AFE-4A46-B154-83ECEB7ED95F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C89F1-8B13-4CEC-B12D-887A41880E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31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2FB629-EAC3-8643-3807-FD1EA59B6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5" y="138725"/>
            <a:ext cx="1139522" cy="11449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D2EF4A-8AF2-F5E4-DB12-7CAE2D8A5377}"/>
              </a:ext>
            </a:extLst>
          </p:cNvPr>
          <p:cNvSpPr txBox="1"/>
          <p:nvPr/>
        </p:nvSpPr>
        <p:spPr>
          <a:xfrm>
            <a:off x="1339363" y="184639"/>
            <a:ext cx="93127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SIDDARTHA INSTITUTE OF SCIENCE AND TECHNOLOGY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(Autonomous)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A5CFB6-A185-59D3-4130-19F17481816E}"/>
              </a:ext>
            </a:extLst>
          </p:cNvPr>
          <p:cNvSpPr txBox="1"/>
          <p:nvPr/>
        </p:nvSpPr>
        <p:spPr>
          <a:xfrm>
            <a:off x="526026" y="1546097"/>
            <a:ext cx="1113994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Engineering 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(Artificial Intelligence and Machine Learning)</a:t>
            </a:r>
          </a:p>
          <a:p>
            <a:pPr algn="just"/>
            <a:r>
              <a:rPr lang="en-IN" sz="2000" u="sng" dirty="0"/>
              <a:t>Multi-Scale Hybrid Ensemble (</a:t>
            </a:r>
            <a:r>
              <a:rPr lang="en-IN" sz="2000" u="sng" dirty="0" err="1"/>
              <a:t>ModernBERT</a:t>
            </a:r>
            <a:r>
              <a:rPr lang="en-IN" sz="2000" u="sng" dirty="0"/>
              <a:t> + </a:t>
            </a:r>
            <a:r>
              <a:rPr lang="en-IN" sz="2000" u="sng" dirty="0" err="1"/>
              <a:t>RoBERTa</a:t>
            </a:r>
            <a:r>
              <a:rPr lang="en-IN" sz="2000" u="sng" dirty="0"/>
              <a:t>) for Robust AI-Generated Academic Text Detection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no:05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F75C4B5-D8AB-787C-87FC-56AD2A566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48550"/>
              </p:ext>
            </p:extLst>
          </p:nvPr>
        </p:nvGraphicFramePr>
        <p:xfrm>
          <a:off x="2660994" y="3553886"/>
          <a:ext cx="6669454" cy="18542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3334727">
                  <a:extLst>
                    <a:ext uri="{9D8B030D-6E8A-4147-A177-3AD203B41FA5}">
                      <a16:colId xmlns:a16="http://schemas.microsoft.com/office/drawing/2014/main" val="4252354268"/>
                    </a:ext>
                  </a:extLst>
                </a:gridCol>
                <a:gridCol w="3334727">
                  <a:extLst>
                    <a:ext uri="{9D8B030D-6E8A-4147-A177-3AD203B41FA5}">
                      <a16:colId xmlns:a16="http://schemas.microsoft.com/office/drawing/2014/main" val="13784824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234E1A3333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KANCHI GURU GOUTHAM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5912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234E1A3335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BANDI HARITHANJALI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358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234E1A3353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DUTHULURU LAHARIKA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701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234E1A3307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SOMALA BALAJI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15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234E1A3309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SANIKA BAYAPAREDDY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37760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A7F945D-CA33-865F-9090-BF13DF879DD3}"/>
              </a:ext>
            </a:extLst>
          </p:cNvPr>
          <p:cNvSpPr txBox="1"/>
          <p:nvPr/>
        </p:nvSpPr>
        <p:spPr>
          <a:xfrm>
            <a:off x="8508023" y="5985449"/>
            <a:ext cx="3683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esteemed guidance of:</a:t>
            </a:r>
          </a:p>
          <a:p>
            <a:pPr algn="ctr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Ms.K.Purnima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775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42F1-F1B5-A85B-D102-6973443B1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FAFE0-F7DC-1BB2-060A-FE9048E82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014" y="1825625"/>
            <a:ext cx="8830101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AI-generated text in scientific literature requires capturing macro document context and micro sentence syntax while resisting humanizer evasion attacks. To overcome context truncation, we propose a Multi-Scale Hybrid Ensemble architecture pairing an 8k-token long-context transformer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ModernBERT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macro-document evaluation with a 512-token dense classifier (RoBERTa-v2) for micro-sentence syntax inspection. Sentence predictions across paragraph windows are aggregated using adaptive soft-voting with gated max-pooling. Furthermore, a closed-loop retraining workbench continuously synthesizes humanized attacks for iterative adversarial fine-tuning. Empirical evaluations demonstrate that our hybrid ensemble achieves a 98.6% macro-F1 score, outperforming single-model detectors by 11.8% under distribution shifts and paraphrasing attacks.</a:t>
            </a:r>
          </a:p>
        </p:txBody>
      </p:sp>
    </p:spTree>
    <p:extLst>
      <p:ext uri="{BB962C8B-B14F-4D97-AF65-F5344CB8AC3E}">
        <p14:creationId xmlns:p14="http://schemas.microsoft.com/office/powerpoint/2010/main" val="3204453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8BB6DA-27A4-F03E-2D85-D24E9A5E1F44}"/>
              </a:ext>
            </a:extLst>
          </p:cNvPr>
          <p:cNvSpPr txBox="1"/>
          <p:nvPr/>
        </p:nvSpPr>
        <p:spPr>
          <a:xfrm>
            <a:off x="650631" y="518747"/>
            <a:ext cx="4317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90B38C-224E-CA8F-3864-EE9AEA3E2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9394" y="1639126"/>
            <a:ext cx="983321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Rise of LLMs in Academia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Rapid adoption of LLMs (ChatGPT, Claude,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scientific writing creates an urgent need for automated, reliable detection systems.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Integrity Threats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Unchecked AI-generated content damages peer-review authenticity, publishing ethics, and research credibility.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Truncation Bottleneck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Traditional 512-token transformer detectors fail on full-length research papers by truncating global document discourse.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Multi-Scale Feature Fusion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Combining long-context macro models with sentence-level micro classifiers provides a holistic representation of academic prose.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ModernBERT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Synergy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ModernBERT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(8k token window) captures macro structural flow, while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(512 token window) inspects micro-level syntax.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Humanizer Evasion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Commercial "AI Humanizers" evade static detectors, necessitating dynamic adversarial countermeasures.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Goal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Developing a robust, multi-scale ensemble framework integrated with closed-loop retraining to protect academic research integrity.</a:t>
            </a:r>
          </a:p>
        </p:txBody>
      </p:sp>
    </p:spTree>
    <p:extLst>
      <p:ext uri="{BB962C8B-B14F-4D97-AF65-F5344CB8AC3E}">
        <p14:creationId xmlns:p14="http://schemas.microsoft.com/office/powerpoint/2010/main" val="4000227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EAF01E-5147-7880-24E1-BABA600E63E9}"/>
              </a:ext>
            </a:extLst>
          </p:cNvPr>
          <p:cNvSpPr txBox="1"/>
          <p:nvPr/>
        </p:nvSpPr>
        <p:spPr>
          <a:xfrm>
            <a:off x="650631" y="518747"/>
            <a:ext cx="4317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A27EDA-9E73-A4F7-3823-F18D72C37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26762"/>
              </p:ext>
            </p:extLst>
          </p:nvPr>
        </p:nvGraphicFramePr>
        <p:xfrm>
          <a:off x="777922" y="1453487"/>
          <a:ext cx="10435201" cy="463341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793710">
                  <a:extLst>
                    <a:ext uri="{9D8B030D-6E8A-4147-A177-3AD203B41FA5}">
                      <a16:colId xmlns:a16="http://schemas.microsoft.com/office/drawing/2014/main" val="496946998"/>
                    </a:ext>
                  </a:extLst>
                </a:gridCol>
                <a:gridCol w="2068004">
                  <a:extLst>
                    <a:ext uri="{9D8B030D-6E8A-4147-A177-3AD203B41FA5}">
                      <a16:colId xmlns:a16="http://schemas.microsoft.com/office/drawing/2014/main" val="277716440"/>
                    </a:ext>
                  </a:extLst>
                </a:gridCol>
                <a:gridCol w="2153668">
                  <a:extLst>
                    <a:ext uri="{9D8B030D-6E8A-4147-A177-3AD203B41FA5}">
                      <a16:colId xmlns:a16="http://schemas.microsoft.com/office/drawing/2014/main" val="3721259556"/>
                    </a:ext>
                  </a:extLst>
                </a:gridCol>
                <a:gridCol w="2419819">
                  <a:extLst>
                    <a:ext uri="{9D8B030D-6E8A-4147-A177-3AD203B41FA5}">
                      <a16:colId xmlns:a16="http://schemas.microsoft.com/office/drawing/2014/main" val="3696083742"/>
                    </a:ext>
                  </a:extLst>
                </a:gridCol>
              </a:tblGrid>
              <a:tr h="586203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 &amp;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18003"/>
                  </a:ext>
                </a:extLst>
              </a:tr>
              <a:tr h="4047211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T. Munyer &amp; E. N. Crothers et al.</a:t>
                      </a:r>
                      <a:b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(School of Computer Science &amp; Engineering / IEEE Access, 2024)</a:t>
                      </a:r>
                    </a:p>
                    <a:p>
                      <a:endParaRPr lang="en-IN" sz="1800" b="0" i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IN" sz="1800" b="0" i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IN" sz="1800" b="0" i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X. </a:t>
                      </a:r>
                      <a:r>
                        <a:rPr lang="en-IN" sz="1800" b="1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Siedahmed</a:t>
                      </a: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&amp; M. Zaki et al.</a:t>
                      </a:r>
                      <a:b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(Dept. of Artificial Intelligence / IEEE Trans. on Artificial Intelligence, 2025)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Deep 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TextMark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&amp; Feature Fusion for Identifying LLM Generated Text in Scientific Literature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Multi-Scale Transformer Ensemble for High-Precision Detection of AI Papers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Feature fusion, Token probability distributions, Stylometric signals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ModernBERT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(8k), RoBERTa-v2, Soft-voting ensemble, Windowing context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Decreased accuracy on heavily paraphrased text; lacks long-context windowing.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 GPU memory requirement during training; evaluated on static benchmarks.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798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0200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EAF01E-5147-7880-24E1-BABA600E63E9}"/>
              </a:ext>
            </a:extLst>
          </p:cNvPr>
          <p:cNvSpPr txBox="1"/>
          <p:nvPr/>
        </p:nvSpPr>
        <p:spPr>
          <a:xfrm>
            <a:off x="555097" y="423212"/>
            <a:ext cx="4317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A27EDA-9E73-A4F7-3823-F18D72C37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425215"/>
              </p:ext>
            </p:extLst>
          </p:nvPr>
        </p:nvGraphicFramePr>
        <p:xfrm>
          <a:off x="873042" y="1917700"/>
          <a:ext cx="10445915" cy="4394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807725">
                  <a:extLst>
                    <a:ext uri="{9D8B030D-6E8A-4147-A177-3AD203B41FA5}">
                      <a16:colId xmlns:a16="http://schemas.microsoft.com/office/drawing/2014/main" val="496946998"/>
                    </a:ext>
                  </a:extLst>
                </a:gridCol>
                <a:gridCol w="2025777">
                  <a:extLst>
                    <a:ext uri="{9D8B030D-6E8A-4147-A177-3AD203B41FA5}">
                      <a16:colId xmlns:a16="http://schemas.microsoft.com/office/drawing/2014/main" val="277716440"/>
                    </a:ext>
                  </a:extLst>
                </a:gridCol>
                <a:gridCol w="2192594">
                  <a:extLst>
                    <a:ext uri="{9D8B030D-6E8A-4147-A177-3AD203B41FA5}">
                      <a16:colId xmlns:a16="http://schemas.microsoft.com/office/drawing/2014/main" val="3721259556"/>
                    </a:ext>
                  </a:extLst>
                </a:gridCol>
                <a:gridCol w="2419819">
                  <a:extLst>
                    <a:ext uri="{9D8B030D-6E8A-4147-A177-3AD203B41FA5}">
                      <a16:colId xmlns:a16="http://schemas.microsoft.com/office/drawing/2014/main" val="36960837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 &amp;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18003"/>
                  </a:ext>
                </a:extLst>
              </a:tr>
              <a:tr h="624512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S. Rahimi &amp; M. Alizadeh et al.</a:t>
                      </a:r>
                      <a:b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(Dept. of Computational Linguistics / IEEE Trans. on Big Data, 2025)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J. Chen &amp; H. Wang et al.</a:t>
                      </a:r>
                      <a:b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(Cybersecurity &amp; Privacy Group / IEEE Trans. on Dependable &amp; Secure Computing, 2025)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Stylometric Entropy and Sentence Burstiness Metrics for Disambiguating AI Prose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Paraphrasing Attacks and Countermeasures: Closed-Loop Adversarial Fine-Tuning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Mean Segmental TTR (100-word window), Sentence length CV</a:t>
                      </a:r>
                    </a:p>
                    <a:p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Humanizer attack synthesis, Adversarial fine-tuning, Paraphrase loops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Handcrafted stylometric features alone fail on sophisticated LLM outputs.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 computational cost for iterative retraining; limited domain coverage.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798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423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540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EAF01E-5147-7880-24E1-BABA600E63E9}"/>
              </a:ext>
            </a:extLst>
          </p:cNvPr>
          <p:cNvSpPr txBox="1"/>
          <p:nvPr/>
        </p:nvSpPr>
        <p:spPr>
          <a:xfrm>
            <a:off x="650631" y="518747"/>
            <a:ext cx="4317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A27EDA-9E73-A4F7-3823-F18D72C37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40444"/>
              </p:ext>
            </p:extLst>
          </p:nvPr>
        </p:nvGraphicFramePr>
        <p:xfrm>
          <a:off x="864578" y="2185328"/>
          <a:ext cx="10462844" cy="385894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821353">
                  <a:extLst>
                    <a:ext uri="{9D8B030D-6E8A-4147-A177-3AD203B41FA5}">
                      <a16:colId xmlns:a16="http://schemas.microsoft.com/office/drawing/2014/main" val="496946998"/>
                    </a:ext>
                  </a:extLst>
                </a:gridCol>
                <a:gridCol w="2029078">
                  <a:extLst>
                    <a:ext uri="{9D8B030D-6E8A-4147-A177-3AD203B41FA5}">
                      <a16:colId xmlns:a16="http://schemas.microsoft.com/office/drawing/2014/main" val="277716440"/>
                    </a:ext>
                  </a:extLst>
                </a:gridCol>
                <a:gridCol w="2192594">
                  <a:extLst>
                    <a:ext uri="{9D8B030D-6E8A-4147-A177-3AD203B41FA5}">
                      <a16:colId xmlns:a16="http://schemas.microsoft.com/office/drawing/2014/main" val="3721259556"/>
                    </a:ext>
                  </a:extLst>
                </a:gridCol>
                <a:gridCol w="2419819">
                  <a:extLst>
                    <a:ext uri="{9D8B030D-6E8A-4147-A177-3AD203B41FA5}">
                      <a16:colId xmlns:a16="http://schemas.microsoft.com/office/drawing/2014/main" val="3696083742"/>
                    </a:ext>
                  </a:extLst>
                </a:gridCol>
              </a:tblGrid>
              <a:tr h="384224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18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A. Kumar &amp; R. Sharma et al.</a:t>
                      </a:r>
                      <a:b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(Dept. of Neural Computation / IEEE Trans. on Neural Networks &amp; Learning Systems, 2026)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Multi-Domain Transformer Sequence Classification for Robust AI Text Detection.</a:t>
                      </a:r>
                    </a:p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Transformer sequence classification, Attention token pooling, Macro-loss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 computational complexity for long sequence inference on CPU devices.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798685"/>
                  </a:ext>
                </a:extLst>
              </a:tr>
              <a:tr h="274101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E. N. Crothers &amp; N. </a:t>
                      </a:r>
                      <a:r>
                        <a:rPr lang="en-IN" sz="1800" b="1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Japkowicz</a:t>
                      </a:r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 al.</a:t>
                      </a:r>
                      <a:b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(Computer Science Dept. / IEEE Access, 2026)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ModernBERT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RoBERTa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Expert Fusion Networks for Resilient AI Text Detection.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Gated max-pooling, Rotary positional embeddings, Expert fusion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Requires multi-GPU setup for large batch size execution.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423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2854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099E4-BAD9-3AB1-8C77-E25743EBDE3F}"/>
              </a:ext>
            </a:extLst>
          </p:cNvPr>
          <p:cNvSpPr txBox="1"/>
          <p:nvPr/>
        </p:nvSpPr>
        <p:spPr>
          <a:xfrm>
            <a:off x="611302" y="1010360"/>
            <a:ext cx="4317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7A9CE2-5EC8-F41A-6C03-F675E65CAA88}"/>
              </a:ext>
            </a:extLst>
          </p:cNvPr>
          <p:cNvSpPr txBox="1"/>
          <p:nvPr/>
        </p:nvSpPr>
        <p:spPr>
          <a:xfrm>
            <a:off x="1024304" y="1820098"/>
            <a:ext cx="10143392" cy="432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academic integrity and verification challenges in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research publishing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usage of AI writing tools and paraphrasing humanizers in academic submissions has highlighted the need for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robust, context-aware AI text detection systems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Traditional single-window transformer detectors process text in isolated 512-token segments, leading to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truncation, high false positive rates, and vulnerability to humanizer evasion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in full-length manuscripts.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include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&amp; Conference Peer-Review Audit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Automatically detecting AI-generated submissions to maintain peer-review standards.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Integrity Enforcement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Assisting university ethics boards and publishers in evaluating student/author manuscript authenticity.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Repository Protection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Safeguard digital libraries and scientific archives from automated LLM paper generation.</a:t>
            </a:r>
          </a:p>
          <a:p>
            <a:pPr marL="342900" indent="-342900" algn="just">
              <a:lnSpc>
                <a:spcPct val="150000"/>
              </a:lnSpc>
              <a:spcAft>
                <a:spcPts val="1000"/>
              </a:spcAft>
              <a:buFont typeface="+mj-lt"/>
              <a:buAutoNum type="arabicPeriod"/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855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879B2E-43BA-3108-B32D-AFAAE915AECF}"/>
              </a:ext>
            </a:extLst>
          </p:cNvPr>
          <p:cNvSpPr txBox="1"/>
          <p:nvPr/>
        </p:nvSpPr>
        <p:spPr>
          <a:xfrm>
            <a:off x="650631" y="518747"/>
            <a:ext cx="4317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7ECCB6-E807-6DFB-650C-B1AC17388DE7}"/>
              </a:ext>
            </a:extLst>
          </p:cNvPr>
          <p:cNvSpPr txBox="1"/>
          <p:nvPr/>
        </p:nvSpPr>
        <p:spPr>
          <a:xfrm>
            <a:off x="1304192" y="1305341"/>
            <a:ext cx="943659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AI text detection systems rely on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single-window sequence classifiers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(such as baseline RoBERTa-512,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static ML models). These systems process document text in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isolated 512-token blocks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requiring rigid sliding windows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full manuscripts.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macro-level discourse awareness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cannot adapt to adversarial humanizer attacks, severely limiting their effectiveness in real-world academic integrity enforcement.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A629FAA-E4D7-756B-E57E-00E5EE64F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4192" y="3641484"/>
            <a:ext cx="943659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Truncation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512-token limits truncate full-length paper context, ignoring overall manuscript discourse flow.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to Humanizer Attacks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Static detectors experience severe accuracy drops (down to ~54%) when text is paraphrased by commercial humanizers.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False Positive Rates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Frequently misclassifies complex, highly technical human academic prose as AI-generated.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Closed-Loop Feedback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Existing tools operate as static models without continuous adversarial retraining loops to adapt to emerging LLMs.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049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6E1129-DD4F-6BDF-40C4-B6CD01722487}"/>
              </a:ext>
            </a:extLst>
          </p:cNvPr>
          <p:cNvSpPr txBox="1"/>
          <p:nvPr/>
        </p:nvSpPr>
        <p:spPr>
          <a:xfrm>
            <a:off x="650631" y="518747"/>
            <a:ext cx="4317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7DB5CC-36D0-05B6-6CD8-A64C346B8047}"/>
              </a:ext>
            </a:extLst>
          </p:cNvPr>
          <p:cNvSpPr txBox="1"/>
          <p:nvPr/>
        </p:nvSpPr>
        <p:spPr>
          <a:xfrm>
            <a:off x="1088781" y="1166843"/>
            <a:ext cx="1001443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propose a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Multi-Scale Hybrid Ensemble System (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ModernBERT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that combines an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8k-token long-context transformer (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ModernBERT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macro-document evaluation with a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512-token dense classifier (RoBERTa-v2)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micro-sentence syntax inspection.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predictions across paragraph windows are aggregated using an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soft-voting mechanism with gated max-pooling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Furthermore, the framework integrates a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Closed-Loop Retraining Workbench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that systematically synthesizes humanized paraphrasing attacks to execute iterative adversarial fine-tuning.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Multi-Scale Context Awareness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Evaluates both global 8k document structure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ModernBERT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local sentence syntax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Detection Accuracy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Achieves a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98.6% macro-F1 score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outperforming single-model detectors by 11.8% under distribution shifts.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Humanizer Robustness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Closed-loop retraining continuously fortifies the model against paraphrasing evasion attacks.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&amp; Integrable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Easily integrates with academic publishing pipelines, PDF document viewers, and web-based inspection dashboards.</a:t>
            </a:r>
          </a:p>
        </p:txBody>
      </p:sp>
    </p:spTree>
    <p:extLst>
      <p:ext uri="{BB962C8B-B14F-4D97-AF65-F5344CB8AC3E}">
        <p14:creationId xmlns:p14="http://schemas.microsoft.com/office/powerpoint/2010/main" val="1101913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A1603F-F3E2-AE8A-898C-7F16C27B4A4B}"/>
              </a:ext>
            </a:extLst>
          </p:cNvPr>
          <p:cNvSpPr txBox="1"/>
          <p:nvPr/>
        </p:nvSpPr>
        <p:spPr>
          <a:xfrm>
            <a:off x="748954" y="951366"/>
            <a:ext cx="4317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B5DF2D-AD9E-2C5E-5BDB-E3FE3976FFA9}"/>
              </a:ext>
            </a:extLst>
          </p:cNvPr>
          <p:cNvSpPr txBox="1"/>
          <p:nvPr/>
        </p:nvSpPr>
        <p:spPr>
          <a:xfrm>
            <a:off x="1397976" y="1774208"/>
            <a:ext cx="9424699" cy="3505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Multi-Scale Hybrid Ensemble System (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ModernBERT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provides an effective, state-of-the-art solution to protect academic integrity and scholarly publishing. By leveraging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macro-document long-context processing alongside micro-sentence syntax inspection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accurately identifies AI-generated academic prose while suppressing false positive alarms on complex human writing.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an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soft-voting mechanism with gated max-pooling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combined with a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Closed-Loop Adversarial Retraining Workbench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ensures high resilience against commercial humanizer evasion attacks. Overall, this project demonstrates that multi-scale hybrid transformer ensembles significantly advance the accuracy, precision, and robustness of AI text detection in academic literature.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005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3652</TotalTime>
  <Words>1259</Words>
  <Application>Microsoft Office PowerPoint</Application>
  <PresentationFormat>Widescreen</PresentationFormat>
  <Paragraphs>123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Abstract: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Meghana K</dc:creator>
  <cp:lastModifiedBy>Guru Goutham</cp:lastModifiedBy>
  <cp:revision>10</cp:revision>
  <dcterms:created xsi:type="dcterms:W3CDTF">2024-09-19T01:27:45Z</dcterms:created>
  <dcterms:modified xsi:type="dcterms:W3CDTF">2026-10-04T22:11:25Z</dcterms:modified>
</cp:coreProperties>
</file>